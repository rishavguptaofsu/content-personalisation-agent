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49240"/>
          </a:xfrm>
          <a:prstGeom prst="roundRect">
            <a:avLst/>
          </a:prstGeom>
          <a:solidFill>
            <a:srgbClr val="101420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10545775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7840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MULTI-AGENT AI ARCHITECTURE  •  2026 PLATFORM OVERVIEW</a:t>
            </a:r>
          </a:p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Content Personalization Agent</a:t>
            </a:r>
          </a:p>
          <a:p>
            <a:pPr>
              <a:defRPr sz="1350">
                <a:solidFill>
                  <a:srgbClr val="94A3B8"/>
                </a:solidFill>
                <a:latin typeface="Segoe UI"/>
              </a:defRPr>
            </a:pPr>
            <a:r>
              <a:t>Personalization per need, not per subject. A 34-agent full-stack ecosystem powered by layered profile synthesis, semantic vector memory, and deterministic scope guards.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474720"/>
            <a:ext cx="2240280" cy="155448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3474720"/>
            <a:ext cx="20574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361188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6366F1"/>
                </a:solidFill>
                <a:latin typeface="Segoe UI"/>
              </a:defRPr>
            </a:pPr>
            <a:r>
              <a:t>34</a:t>
            </a:r>
          </a:p>
          <a:p>
            <a:pPr>
              <a:spcAft>
                <a:spcPts val="200"/>
              </a:spcAft>
              <a:defRPr sz="1100" b="1">
                <a:solidFill>
                  <a:srgbClr val="F1F5F9"/>
                </a:solidFill>
                <a:latin typeface="Segoe UI"/>
              </a:defRPr>
            </a:pPr>
            <a:r>
              <a:t>Specialized Agents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Narrow single-purpose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3474720"/>
            <a:ext cx="2240280" cy="155448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94759" y="3474720"/>
            <a:ext cx="205740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361188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38BDF8"/>
                </a:solidFill>
                <a:latin typeface="Segoe UI"/>
              </a:defRPr>
            </a:pPr>
            <a:r>
              <a:t>7</a:t>
            </a:r>
          </a:p>
          <a:p>
            <a:pPr>
              <a:spcAft>
                <a:spcPts val="200"/>
              </a:spcAft>
              <a:defRPr sz="1100" b="1">
                <a:solidFill>
                  <a:srgbClr val="F1F5F9"/>
                </a:solidFill>
                <a:latin typeface="Segoe UI"/>
              </a:defRPr>
            </a:pPr>
            <a:r>
              <a:t>Subject Domains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Education to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2240280" cy="155448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3474720"/>
            <a:ext cx="2057400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61188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0B981"/>
                </a:solidFill>
                <a:latin typeface="Segoe UI"/>
              </a:defRPr>
            </a:pPr>
            <a:r>
              <a:t>3-Tier</a:t>
            </a:r>
          </a:p>
          <a:p>
            <a:pPr>
              <a:spcAft>
                <a:spcPts val="200"/>
              </a:spcAft>
              <a:defRPr sz="1100" b="1">
                <a:solidFill>
                  <a:srgbClr val="F1F5F9"/>
                </a:solidFill>
                <a:latin typeface="Segoe UI"/>
              </a:defRPr>
            </a:pPr>
            <a:r>
              <a:t>Layered Personalization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Global → Domain →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3474720"/>
            <a:ext cx="2240280" cy="155448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3474720"/>
            <a:ext cx="205740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61188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59E0B"/>
                </a:solidFill>
                <a:latin typeface="Segoe UI"/>
              </a:defRPr>
            </a:pPr>
            <a:r>
              <a:t>0.0s</a:t>
            </a:r>
          </a:p>
          <a:p>
            <a:pPr>
              <a:spcAft>
                <a:spcPts val="200"/>
              </a:spcAft>
              <a:defRPr sz="1100" b="1">
                <a:solidFill>
                  <a:srgbClr val="F1F5F9"/>
                </a:solidFill>
                <a:latin typeface="Segoe UI"/>
              </a:defRPr>
            </a:pPr>
            <a:r>
              <a:t>Scope Guard Handoff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Zero-cost instant redirection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035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Environment: React 18 • FastAPI • PostgreSQL + pgvector (SQLite fallback) • Ollama llama3.2:3b • 100% Offline Capable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Content Personalization Agent  |  Architecture &amp; Technical Overview  • 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36576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257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THE CORE PROBLEM &amp; ARCHITECTURAL SHIFT</a:t>
            </a:r>
          </a:p>
          <a:p>
            <a:pPr>
              <a:spcAft>
                <a:spcPts val="200"/>
              </a:spcAft>
              <a:defRPr sz="2100" b="1">
                <a:solidFill>
                  <a:srgbClr val="F1F5F9"/>
                </a:solidFill>
                <a:latin typeface="Segoe UI"/>
              </a:defRPr>
            </a:pPr>
            <a:r>
              <a:t>Why Traditional AI Chatbots Fail at Deep Personalization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Monolithic generalist assistants fail at specialization. Dedicated narrow agents guarantee depth and boundary enforcement.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9144"/>
          </a:xfrm>
          <a:prstGeom prst="rect">
            <a:avLst/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15468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5029200" cy="36576"/>
          </a:xfrm>
          <a:prstGeom prst="rect">
            <a:avLst/>
          </a:prstGeom>
          <a:solidFill>
            <a:srgbClr val="F43F5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43F5E"/>
                </a:solidFill>
                <a:latin typeface="Segoe UI"/>
              </a:defRPr>
            </a:pPr>
            <a:r>
              <a:t>Traditional One-Size-Fits-All Chatbots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Generic &amp; Shallow Responses: </a:t>
            </a:r>
            <a:r>
              <a:rPr sz="950" b="0">
                <a:solidFill>
                  <a:srgbClr val="CBD5E1"/>
                </a:solidFill>
                <a:latin typeface="Segoe UI"/>
              </a:rPr>
              <a:t>Tries to cover every subject, producing bland, repetitive textbook boilerplate with zero subject depth.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Prompt Tax &amp; User Fatigue: </a:t>
            </a:r>
            <a:r>
              <a:rPr sz="950" b="0">
                <a:solidFill>
                  <a:srgbClr val="CBD5E1"/>
                </a:solidFill>
                <a:latin typeface="Segoe UI"/>
              </a:rPr>
              <a:t>Brand guidelines, curriculum standards, and user preferences must be manually re-typed on every session.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Context Leakage Across Tasks: </a:t>
            </a:r>
            <a:r>
              <a:rPr sz="950" b="0">
                <a:solidFill>
                  <a:srgbClr val="CBD5E1"/>
                </a:solidFill>
                <a:latin typeface="Segoe UI"/>
              </a:rPr>
              <a:t>Prompting 'be concise' for Python coding corrupts creative writing or detailed mathematical working.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Unchecked Scope Creep: </a:t>
            </a:r>
            <a:r>
              <a:rPr sz="950" b="0">
                <a:solidFill>
                  <a:srgbClr val="CBD5E1"/>
                </a:solidFill>
                <a:latin typeface="Segoe UI"/>
              </a:rPr>
              <a:t>Monolithic LLMs hallucinate inaccurate advice rather than acknowledging strict boundary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315468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463040"/>
            <a:ext cx="502920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7548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Content Personalization Agent Paradigm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34 Hyper-Specialized Agents: </a:t>
            </a:r>
            <a:r>
              <a:rPr sz="950" b="0">
                <a:solidFill>
                  <a:srgbClr val="CBD5E1"/>
                </a:solidFill>
                <a:latin typeface="Segoe UI"/>
              </a:rPr>
              <a:t>Each agent does exactly one job (Class 10 Maths, Python Engineer, Social Post PNG, Chart Builder).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3-Tier Profile Hierarchy: </a:t>
            </a:r>
            <a:r>
              <a:rPr sz="950" b="0">
                <a:solidFill>
                  <a:srgbClr val="CBD5E1"/>
                </a:solidFill>
                <a:latin typeface="Segoe UI"/>
              </a:rPr>
              <a:t>Global → Domain → Agent. Set your brand palette once; all 5 marketing agents inherit it automatically.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Deterministic Scope Guard: </a:t>
            </a:r>
            <a:r>
              <a:rPr sz="950" b="0">
                <a:solidFill>
                  <a:srgbClr val="CBD5E1"/>
                </a:solidFill>
                <a:latin typeface="Segoe UI"/>
              </a:rPr>
              <a:t>Out-of-scope queries trigger an instant 0.0s handoff redirecting to the right agent with $0 AI cost.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Scoped Semantic Memory: </a:t>
            </a:r>
            <a:r>
              <a:rPr sz="950" b="0">
                <a:solidFill>
                  <a:srgbClr val="CBD5E1"/>
                </a:solidFill>
                <a:latin typeface="Segoe UI"/>
              </a:rPr>
              <a:t>Vector embeddings isolate memories to specific agents or domains; zero cross-task pollution.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00600"/>
            <a:ext cx="10728655" cy="1417320"/>
          </a:xfrm>
          <a:prstGeom prst="roundRect">
            <a:avLst/>
          </a:prstGeom>
          <a:solidFill>
            <a:srgbClr val="101420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19472"/>
            <a:ext cx="10241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1F5F9"/>
                </a:solidFill>
                <a:latin typeface="Segoe UI"/>
              </a:defRPr>
            </a:pPr>
            <a:r>
              <a:t>Direct Architectural Contrast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Scope Enforcement: </a:t>
            </a:r>
            <a:r>
              <a:rPr sz="950" b="0">
                <a:solidFill>
                  <a:srgbClr val="CBD5E1"/>
                </a:solidFill>
                <a:latin typeface="Segoe UI"/>
              </a:rPr>
              <a:t>General LLMs rely on prompt adherence (high failure rate)  →  CPA enforces a 0.0s deterministic signal guard.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Context Efficiency: </a:t>
            </a:r>
            <a:r>
              <a:rPr sz="950" b="0">
                <a:solidFill>
                  <a:srgbClr val="CBD5E1"/>
                </a:solidFill>
                <a:latin typeface="Segoe UI"/>
              </a:rPr>
              <a:t>General LLMs force massive prompt payloads  →  CPA uses a 3-tier cascade with automated inheritance.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Memory Retention: </a:t>
            </a:r>
            <a:r>
              <a:rPr sz="950" b="0">
                <a:solidFill>
                  <a:srgbClr val="CBD5E1"/>
                </a:solidFill>
                <a:latin typeface="Segoe UI"/>
              </a:rPr>
              <a:t>General LLMs drop session memory upon close  →  CPA promotes repeat corrections into durable profile attributes.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Content Personalization Agent  |  Architecture &amp; Technical Overview  •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36576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257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SYSTEM ARCHITECTURE &amp; EXECUTION FLOW</a:t>
            </a:r>
          </a:p>
          <a:p>
            <a:pPr>
              <a:spcAft>
                <a:spcPts val="200"/>
              </a:spcAft>
              <a:defRPr sz="2100" b="1">
                <a:solidFill>
                  <a:srgbClr val="F1F5F9"/>
                </a:solidFill>
                <a:latin typeface="Segoe UI"/>
              </a:defRPr>
            </a:pPr>
            <a:r>
              <a:t>End-to-End Multi-Agent Request Pipeline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 deterministic, multi-stage pipeline from user authentication to layered prompt assembly and streaming execution.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9144"/>
          </a:xfrm>
          <a:prstGeom prst="rect">
            <a:avLst/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965960" cy="237744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78308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69163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366F1"/>
                </a:solidFill>
                <a:latin typeface="Segoe UI"/>
              </a:defRPr>
            </a:pPr>
            <a:r>
              <a:t>01. Auth &amp; Input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User submits query via React 18 UI or selects an agent from the catalog.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463040"/>
            <a:ext cx="1965960" cy="237744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7520" y="1463040"/>
            <a:ext cx="178308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645920"/>
            <a:ext cx="169163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02. Router / Guard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Keyword matrix scores request; Scope Guard enforces lanes instantly in 0.0s.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463040"/>
            <a:ext cx="1965960" cy="237744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9" y="1463040"/>
            <a:ext cx="178308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645920"/>
            <a:ext cx="169163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03. Context Assembly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Merges Global + Domain + Agent profiles + retrieved semantic vector memories.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1463040"/>
            <a:ext cx="1965960" cy="237744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1463040"/>
            <a:ext cx="1783080" cy="3657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59" y="1645920"/>
            <a:ext cx="169163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8B5CF6"/>
                </a:solidFill>
                <a:latin typeface="Segoe UI"/>
              </a:defRPr>
            </a:pPr>
            <a:r>
              <a:t>04. Execution Engine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LangGraph orchestrates text streaming (SSE), Pillow PNG, or Matplotlib charts.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463040"/>
            <a:ext cx="1965960" cy="237744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0" y="1463040"/>
            <a:ext cx="1783080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1645920"/>
            <a:ext cx="169163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05. Feedback Loop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CBD5E1"/>
                </a:solidFill>
                <a:latin typeface="Segoe UI"/>
              </a:defRPr>
            </a:pPr>
            <a:r>
              <a:t>User rating promotes repeated corrections into durable profile attributes.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69080"/>
            <a:ext cx="10728655" cy="2148840"/>
          </a:xfrm>
          <a:prstGeom prst="roundRect">
            <a:avLst/>
          </a:prstGeom>
          <a:solidFill>
            <a:srgbClr val="101420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06240"/>
            <a:ext cx="10149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1F5F9"/>
                </a:solidFill>
                <a:latin typeface="Segoe UI"/>
              </a:defRPr>
            </a:pPr>
            <a:r>
              <a:t>Key Architectural Tenets of the Platform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Zero-Cost Decisioning: </a:t>
            </a:r>
            <a:r>
              <a:rPr sz="950" b="0">
                <a:solidFill>
                  <a:srgbClr val="CBD5E1"/>
                </a:solidFill>
                <a:latin typeface="Segoe UI"/>
              </a:rPr>
              <a:t>Router and Scope Guard operate without expensive LLM round-trips when keyword signals are decisive.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Token-by-Token Streaming: </a:t>
            </a:r>
            <a:r>
              <a:rPr sz="950" b="0">
                <a:solidFill>
                  <a:srgbClr val="CBD5E1"/>
                </a:solidFill>
                <a:latin typeface="Segoe UI"/>
              </a:rPr>
              <a:t>Server-Sent Events (SSE) deliver instant visual feedback even when running local CPU-bound models.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Multi-Modal Autonomy: </a:t>
            </a:r>
            <a:r>
              <a:rPr sz="950" b="0">
                <a:solidFill>
                  <a:srgbClr val="CBD5E1"/>
                </a:solidFill>
                <a:latin typeface="Segoe UI"/>
              </a:rPr>
              <a:t>Local Pillow card and Matplotlib chart renderers eliminate GPU dependencies and cloud API bills.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Strict Multi-Tenancy: </a:t>
            </a:r>
            <a:r>
              <a:rPr sz="950" b="0">
                <a:solidFill>
                  <a:srgbClr val="CBD5E1"/>
                </a:solidFill>
                <a:latin typeface="Segoe UI"/>
              </a:rPr>
              <a:t>All profiles, vector embeddings, and memory records are isolated at the database schema and query levels.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Content Personalization Agent  |  Architecture &amp; Technical Overview  •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36576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257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SPECIALIZED AGENT ECOSYSTEM</a:t>
            </a:r>
          </a:p>
          <a:p>
            <a:pPr>
              <a:spcAft>
                <a:spcPts val="200"/>
              </a:spcAft>
              <a:defRPr sz="2100" b="1">
                <a:solidFill>
                  <a:srgbClr val="F1F5F9"/>
                </a:solidFill>
                <a:latin typeface="Segoe UI"/>
              </a:defRPr>
            </a:pPr>
            <a:r>
              <a:t>The 7 Subject Domains &amp; 34 Specialized Agents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Agents are declared as structured data (AgentSpec records), preventing prompt drift across 34 endpoints.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9144"/>
          </a:xfrm>
          <a:prstGeom prst="rect">
            <a:avLst/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233172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224028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Education (6 Agents)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FFFFFF"/>
                </a:solidFill>
                <a:latin typeface="Segoe UI"/>
              </a:defRPr>
            </a:pPr>
            <a:r>
              <a:t>Agents: Class 10 Maths, Class 10 Science, Class 12 Physics, Homework Solver, Exam Planner, Quiz Gen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Shared: Board, Language, Learning Style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463040"/>
            <a:ext cx="251460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57016" y="1463040"/>
            <a:ext cx="233172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627632"/>
            <a:ext cx="224028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Technical (6 Agents)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FFFFFF"/>
                </a:solidFill>
                <a:latin typeface="Segoe UI"/>
              </a:defRPr>
            </a:pPr>
            <a:r>
              <a:t>Agents: Python Engineer, React Developer, SQL Expert, DSA Coach, Code Debugger, Code Reviewer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Shared: Experience, Style, Project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63040"/>
            <a:ext cx="251460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463040"/>
            <a:ext cx="2331720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627632"/>
            <a:ext cx="224028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Career (4 Agents)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FFFFFF"/>
                </a:solidFill>
                <a:latin typeface="Segoe UI"/>
              </a:defRPr>
            </a:pPr>
            <a:r>
              <a:t>Agents: Resume Writer, Technical Interview Coach, Job Search Advisor, Skill Roadmap Planner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Shared: Target Role, Years, Location,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1463040"/>
            <a:ext cx="251460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25128" y="1463040"/>
            <a:ext cx="233172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1627632"/>
            <a:ext cx="224028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Marketing (5 Agents)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FFFFFF"/>
                </a:solidFill>
                <a:latin typeface="Segoe UI"/>
              </a:defRPr>
            </a:pPr>
            <a:r>
              <a:t>Agents: Social Post Image [PNG], Ad Creative [PNG], Social Caption, SEO Optimizer, Campaign Planner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Shared: Brand Name, Audience, Colors, Tone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251460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931920"/>
            <a:ext cx="2331720" cy="3657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96511"/>
            <a:ext cx="224028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B5CF6"/>
                </a:solidFill>
                <a:latin typeface="Segoe UI"/>
              </a:defRPr>
            </a:pPr>
            <a:r>
              <a:t>Analytics (4 Agents)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FFFFFF"/>
                </a:solidFill>
                <a:latin typeface="Segoe UI"/>
              </a:defRPr>
            </a:pPr>
            <a:r>
              <a:t>Agents: Chart Builder [Exact Chart PNG], EDA Planner, SQL Analytics Expert, Insight Writer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Shared: Tooling (Pandas/SQL), Data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5576" y="3931920"/>
            <a:ext cx="251460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57016" y="3931920"/>
            <a:ext cx="233172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2736" y="4096511"/>
            <a:ext cx="224028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Research (4 Agents)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FFFFFF"/>
                </a:solidFill>
                <a:latin typeface="Segoe UI"/>
              </a:defRPr>
            </a:pPr>
            <a:r>
              <a:t>Agents: Concept Explainer, Executive Summarizer, Literature Brief Analyst, Source Finder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Shared: Field of Study, Research Depth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931920"/>
            <a:ext cx="251460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3931920"/>
            <a:ext cx="2331720" cy="36576"/>
          </a:xfrm>
          <a:prstGeom prst="rect">
            <a:avLst/>
          </a:prstGeom>
          <a:solidFill>
            <a:srgbClr val="F43F5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4096511"/>
            <a:ext cx="224028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Creative (5 Agents)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FFFFFF"/>
                </a:solidFill>
                <a:latin typeface="Segoe UI"/>
              </a:defRPr>
            </a:pPr>
            <a:r>
              <a:t>Agents: Story Writer, Film/Video Script Writer, Idea Generator, Copywriter, Poster Designer [PNG]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Shared: Tone, Voice, Influences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8" y="3931920"/>
            <a:ext cx="251460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25128" y="3931920"/>
            <a:ext cx="2331720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4096511"/>
            <a:ext cx="224028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AgentSpec Data Architecture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FFFFFF"/>
                </a:solidFill>
                <a:latin typeface="Segoe UI"/>
              </a:defRPr>
            </a:pPr>
            <a:r>
              <a:t>Agents: All 34 agents are declared as records, not 34 code classes. 3 generic runners (Text, Image, Chart) execute all jobs.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Key: Eliminates prompt drift completely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Content Personalization Agent  |  Architecture &amp; Technical Overview  •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36576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257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THE PERSONALIZATION ENGINE</a:t>
            </a:r>
          </a:p>
          <a:p>
            <a:pPr>
              <a:spcAft>
                <a:spcPts val="200"/>
              </a:spcAft>
              <a:defRPr sz="2100" b="1">
                <a:solidFill>
                  <a:srgbClr val="F1F5F9"/>
                </a:solidFill>
                <a:latin typeface="Segoe UI"/>
              </a:defRPr>
            </a:pPr>
            <a:r>
              <a:t>Layered 3-Tier Context Hierarchy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Answer once, inherit everywhere: general preferences inherit down, while specific constraints override.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9144"/>
          </a:xfrm>
          <a:prstGeom prst="rect">
            <a:avLst/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1389888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530352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6366F1"/>
                </a:solidFill>
                <a:latin typeface="Segoe UI"/>
              </a:defRPr>
            </a:pPr>
            <a:r>
              <a:t>LEVEL 1: GLOBAL PROFILE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FFFFFF"/>
                </a:solidFill>
                <a:latin typeface="Segoe UI"/>
              </a:defRPr>
            </a:pPr>
            <a:r>
              <a:t>User-wide attributes: Name, base occupation, general skill level, preferred tone.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94A3B8"/>
                </a:solidFill>
                <a:latin typeface="Segoe UI"/>
              </a:defRPr>
            </a:pPr>
            <a:r>
              <a:t>Benefit: Applies to all 7 domains and 34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486400" cy="1389888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017520"/>
            <a:ext cx="530352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79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38BDF8"/>
                </a:solidFill>
                <a:latin typeface="Segoe UI"/>
              </a:defRPr>
            </a:pPr>
            <a:r>
              <a:t>LEVEL 2: DOMAIN-SHARED PROFILE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FFFFFF"/>
                </a:solidFill>
                <a:latin typeface="Segoe UI"/>
              </a:defRPr>
            </a:pPr>
            <a:r>
              <a:t>Shared domain context: Brand guidelines, Audience, Board/Curriculum, Tech stack.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94A3B8"/>
                </a:solidFill>
                <a:latin typeface="Segoe UI"/>
              </a:defRPr>
            </a:pPr>
            <a:r>
              <a:t>Benefit: Set once in Marketing; inherited by all 5 marketing agents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486400" cy="1389888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572000"/>
            <a:ext cx="5303520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0B981"/>
                </a:solidFill>
                <a:latin typeface="Segoe UI"/>
              </a:defRPr>
            </a:pPr>
            <a:r>
              <a:t>LEVEL 3: AGENT-SPECIFIC PROFILE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FFFFFF"/>
                </a:solidFill>
                <a:latin typeface="Segoe UI"/>
              </a:defRPr>
            </a:pPr>
            <a:r>
              <a:t>Targeted task constraints: Social post dimensions, weak maths chapters, coding styles.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94A3B8"/>
                </a:solidFill>
                <a:latin typeface="Segoe UI"/>
              </a:defRPr>
            </a:pPr>
            <a:r>
              <a:t>Benefit: Granular parameters tailored strictly to that specific agent's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463040"/>
            <a:ext cx="4937760" cy="4526280"/>
          </a:xfrm>
          <a:prstGeom prst="roundRect">
            <a:avLst/>
          </a:prstGeom>
          <a:solidFill>
            <a:srgbClr val="101420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79" y="1463040"/>
            <a:ext cx="475488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645920"/>
            <a:ext cx="4480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Live Prompt Assembly Trace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6366F1"/>
                </a:solidFill>
                <a:latin typeface="Segoe UI"/>
              </a:rPr>
              <a:t>• 1. Global Layer: </a:t>
            </a:r>
            <a:r>
              <a:rPr sz="950" b="0">
                <a:solidFill>
                  <a:srgbClr val="CBD5E1"/>
                </a:solidFill>
                <a:latin typeface="Segoe UI"/>
              </a:rPr>
              <a:t>User is intermediate software engineer, prefers concise explanations.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2. Domain Layer (Marketing): </a:t>
            </a:r>
            <a:r>
              <a:rPr sz="950" b="0">
                <a:solidFill>
                  <a:srgbClr val="CBD5E1"/>
                </a:solidFill>
                <a:latin typeface="Segoe UI"/>
              </a:rPr>
              <a:t>Brand: 'Acme Cloud' | Tone: Professional | Brand Colors: #6366f1, #38bdf8.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• 3. Agent Layer (Post-Image): </a:t>
            </a:r>
            <a:r>
              <a:rPr sz="950" b="0">
                <a:solidFill>
                  <a:srgbClr val="CBD5E1"/>
                </a:solidFill>
                <a:latin typeface="Segoe UI"/>
              </a:rPr>
              <a:t>Platform: LinkedIn (1200x627) | Style: Bold typography.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• 4. Semantic Memory Vector Match: </a:t>
            </a:r>
            <a:r>
              <a:rPr sz="950" b="0">
                <a:solidFill>
                  <a:srgbClr val="CBD5E1"/>
                </a:solidFill>
                <a:latin typeface="Segoe UI"/>
              </a:rPr>
              <a:t>Retrieved past preference: 'Keep headline text under 8 words'.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5. User Prompt: </a:t>
            </a:r>
            <a:r>
              <a:rPr sz="950" b="0">
                <a:solidFill>
                  <a:srgbClr val="CBD5E1"/>
                </a:solidFill>
                <a:latin typeface="Segoe UI"/>
              </a:rPr>
              <a:t>'Create announcement graphic for our Kubernetes autoscaler.'</a:t>
            </a:r>
          </a:p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Result: Model generates exact branded JSON layout spec — no prompt repetition.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Content Personalization Agent  |  Architecture &amp; Technical Overview  •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36576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257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GUARDRAILS &amp; BOUNDARY ENFORCEMENT</a:t>
            </a:r>
          </a:p>
          <a:p>
            <a:pPr>
              <a:spcAft>
                <a:spcPts val="200"/>
              </a:spcAft>
              <a:defRPr sz="2100" b="1">
                <a:solidFill>
                  <a:srgbClr val="F1F5F9"/>
                </a:solidFill>
                <a:latin typeface="Segoe UI"/>
              </a:defRPr>
            </a:pPr>
            <a:r>
              <a:t>Deterministic Scope Guard &amp; Zero-Cost Routing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Why 3B local LLMs must not be trusted with negative instructions, and how deterministic guards solve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9144"/>
          </a:xfrm>
          <a:prstGeom prst="rect">
            <a:avLst/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15468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502920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Deterministic Scope Guard (app/agents/scope.py)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Negative Prompting Fails: </a:t>
            </a:r>
            <a:r>
              <a:rPr sz="950" b="0">
                <a:solidFill>
                  <a:srgbClr val="CBD5E1"/>
                </a:solidFill>
                <a:latin typeface="Segoe UI"/>
              </a:rPr>
              <a:t>Small local models (3B params) suffer from high failure rates when instructed: 'Refuse all non-math questions'.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Signal Scorer Matrix: </a:t>
            </a:r>
            <a:r>
              <a:rPr sz="950" b="0">
                <a:solidFill>
                  <a:srgbClr val="CBD5E1"/>
                </a:solidFill>
                <a:latin typeface="Segoe UI"/>
              </a:rPr>
              <a:t>Evaluates lexical and semantic keyword affinity for the active agent versus all 33 other agent specifications.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Instant Zero-Cost Handoff: </a:t>
            </a:r>
            <a:r>
              <a:rPr sz="950" b="0">
                <a:solidFill>
                  <a:srgbClr val="CBD5E1"/>
                </a:solidFill>
                <a:latin typeface="Segoe UI"/>
              </a:rPr>
              <a:t>If current agent scores 0 signal and another agent scores decisively higher, system immediately triggers a handoff.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Zero Model Invocation: </a:t>
            </a:r>
            <a:r>
              <a:rPr sz="950" b="0">
                <a:solidFill>
                  <a:srgbClr val="CBD5E1"/>
                </a:solidFill>
                <a:latin typeface="Segoe UI"/>
              </a:rPr>
              <a:t>The handoff executes in 0.00 seconds with zero tokens burned and zero hallucination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315468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463040"/>
            <a:ext cx="502920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7548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Two-Tier Intelligent Router &amp; Live Example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Two-Tier Routing Strategy: </a:t>
            </a:r>
            <a:r>
              <a:rPr sz="950" b="0">
                <a:solidFill>
                  <a:srgbClr val="CBD5E1"/>
                </a:solidFill>
                <a:latin typeface="Segoe UI"/>
              </a:rPr>
              <a:t>1. Fast keyword scoring across all 34 agents. 2. If margin is tight (&lt;3.0), triggers 2-step LLM classification.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100% Routing Accuracy: </a:t>
            </a:r>
            <a:r>
              <a:rPr sz="950" b="0">
                <a:solidFill>
                  <a:srgbClr val="CBD5E1"/>
                </a:solidFill>
                <a:latin typeface="Segoe UI"/>
              </a:rPr>
              <a:t>Benchmarked over 21/21 complex routing cases with 100% precision without needing model calls.</a:t>
            </a:r>
          </a:p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Live Handoff in Action: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FFFFFF"/>
                </a:solidFill>
                <a:latin typeface="Segoe UI"/>
              </a:defRPr>
            </a:pPr>
            <a:r>
              <a:t>User to Class 10 Maths: 'Explain Python decorators and functools.wraps'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38BDF8"/>
                </a:solidFill>
                <a:latin typeface="Segoe UI"/>
              </a:defRPr>
            </a:pPr>
            <a:r>
              <a:t>Agent: 'That is outside what I do. I am the Class 10 Maths Tutor. Python Engineer handles this. [Switch to Python Engineer]'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1">
                <a:solidFill>
                  <a:srgbClr val="10B981"/>
                </a:solidFill>
                <a:latin typeface="Segoe UI"/>
              </a:defRPr>
            </a:pPr>
            <a:r>
              <a:t>[0.00s latency  •  Provider: scope-guard  •  Cost: $0.00]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00600"/>
            <a:ext cx="10728655" cy="1417320"/>
          </a:xfrm>
          <a:prstGeom prst="roundRect">
            <a:avLst/>
          </a:prstGeom>
          <a:solidFill>
            <a:srgbClr val="101420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19472"/>
            <a:ext cx="10241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1F5F9"/>
                </a:solidFill>
                <a:latin typeface="Segoe UI"/>
              </a:defRPr>
            </a:pPr>
            <a:r>
              <a:t>Guardrail Architecture Performance Comparison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• Negative Prompting in LLM: </a:t>
            </a:r>
            <a:r>
              <a:rPr sz="950" b="0">
                <a:solidFill>
                  <a:srgbClr val="CBD5E1"/>
                </a:solidFill>
                <a:latin typeface="Segoe UI"/>
              </a:rPr>
              <a:t>Latency: ~1.5 - 2.8s  |  Cost: 350-500 tokens burned  |  Safety: Unreliable (frequent refusal evasion on 3B models)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8B5CF6"/>
                </a:solidFill>
                <a:latin typeface="Segoe UI"/>
              </a:rPr>
              <a:t>• LLM Classifier Layer: </a:t>
            </a:r>
            <a:r>
              <a:rPr sz="950" b="0">
                <a:solidFill>
                  <a:srgbClr val="CBD5E1"/>
                </a:solidFill>
                <a:latin typeface="Segoe UI"/>
              </a:rPr>
              <a:t>Latency: ~0.8 - 1.4s  |  Cost: 200-300 tokens burned  |  Safety: High accuracy but adds unnecessary billing and latency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• Deterministic Scope Guard (CPA): </a:t>
            </a:r>
            <a:r>
              <a:rPr sz="950" b="0">
                <a:solidFill>
                  <a:srgbClr val="CBD5E1"/>
                </a:solidFill>
                <a:latin typeface="Segoe UI"/>
              </a:rPr>
              <a:t>Latency: 0.00 seconds  |  Cost: $0.00 (0 tokens)  |  Safety: 100% deterministic mathematical boundary enforcement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Content Personalization Agent  |  Architecture &amp; Technical Overview  •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36576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257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CONTINUOUS LEARNING SYSTEM</a:t>
            </a:r>
          </a:p>
          <a:p>
            <a:pPr>
              <a:spcAft>
                <a:spcPts val="200"/>
              </a:spcAft>
              <a:defRPr sz="2100" b="1">
                <a:solidFill>
                  <a:srgbClr val="F1F5F9"/>
                </a:solidFill>
                <a:latin typeface="Segoe UI"/>
              </a:defRPr>
            </a:pPr>
            <a:r>
              <a:t>Semantic Long-Term Memory &amp; Feedback Loop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Vector embeddings with pgvector / portable cosine search, 3 memory scopes, and automatic profile promotion.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9144"/>
          </a:xfrm>
          <a:prstGeom prst="rect">
            <a:avLst/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5029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846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3-Tier Memory Isolation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BD5E1"/>
                </a:solidFill>
                <a:latin typeface="Segoe UI"/>
              </a:defRPr>
            </a:pPr>
            <a:r>
              <a:t>Memories are scoped: Agent-only (e.g. Maths trigonometry tips), Domain-wide (e.g. Marketing voice), or Global. Strict isolation prevents cross-task context corruption.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463040"/>
            <a:ext cx="502920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Vector Semantic Search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Powered by nomic-embed-text (768-dim embeddings). Memories are retrieved by conceptual meaning with a 0.45 similarity threshold, not fragile keyword matching.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931920"/>
            <a:ext cx="5029200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2"/>
            <a:ext cx="4846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2-Strike Promotion Rule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 single thumbs-down with critique is stored as a candidate memory. If the same preference is repeated twice, it promotes automatically to a permanent user profile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3931920"/>
            <a:ext cx="502920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96512"/>
            <a:ext cx="4846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User Privacy &amp; Full Governance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Dedicated Settings UI enables users to inspect all vector memories, test semantic recall queries live, and delete any memory with a single click.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Content Personalization Agent  |  Architecture &amp; Technical Overview  •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36576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257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MULTI-MODAL GENERATION ENGINE</a:t>
            </a:r>
          </a:p>
          <a:p>
            <a:pPr>
              <a:spcAft>
                <a:spcPts val="200"/>
              </a:spcAft>
              <a:defRPr sz="2100" b="1">
                <a:solidFill>
                  <a:srgbClr val="F1F5F9"/>
                </a:solidFill>
                <a:latin typeface="Segoe UI"/>
              </a:defRPr>
            </a:pPr>
            <a:r>
              <a:t>Zero-GPU Branded Images &amp; Analytical Charts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Local rendering pipelines turn structured JSON specifications into high-res PNGs and verifiable data charts.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9144"/>
          </a:xfrm>
          <a:prstGeom prst="rect">
            <a:avLst/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8655" cy="160020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0545775" cy="3657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t>How Zero-GPU Multi-Modal Generation Works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Structured Spec Output: </a:t>
            </a:r>
            <a:r>
              <a:rPr sz="950" b="0">
                <a:solidFill>
                  <a:srgbClr val="CBD5E1"/>
                </a:solidFill>
                <a:latin typeface="Segoe UI"/>
              </a:rPr>
              <a:t>The LLM does not generate pixels. It outputs a validated JSON layout spec (headline, subtitle, palette, CTA, layout flags).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Pillow (PIL) Graphic Renderer: </a:t>
            </a:r>
            <a:r>
              <a:rPr sz="950" b="0">
                <a:solidFill>
                  <a:srgbClr val="CBD5E1"/>
                </a:solidFill>
                <a:latin typeface="Segoe UI"/>
              </a:rPr>
              <a:t>Renders crisp 1200x627 branded LinkedIn cards, Instagram squares, and posters locally on standard CPUs in seconds.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Matplotlib Analytical Engine: </a:t>
            </a:r>
            <a:r>
              <a:rPr sz="950" b="0">
                <a:solidFill>
                  <a:srgbClr val="CBD5E1"/>
                </a:solidFill>
                <a:latin typeface="Segoe UI"/>
              </a:rPr>
              <a:t>Chart Builder agent plots user-supplied numbers with statistical rigor. It strictly refuses to invent fake data.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Pluggable Cloud Upgrade: </a:t>
            </a:r>
            <a:r>
              <a:rPr sz="950" b="0">
                <a:solidFill>
                  <a:srgbClr val="CBD5E1"/>
                </a:solidFill>
                <a:latin typeface="Segoe UI"/>
              </a:rPr>
              <a:t>Set IMAGE_PROVIDER=openai to switch the same JSON spec to gpt-image-1 for photographic renders.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212080" cy="3063240"/>
          </a:xfrm>
          <a:prstGeom prst="roundRect">
            <a:avLst/>
          </a:prstGeom>
          <a:solidFill>
            <a:srgbClr val="101420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Analytical Chart (Matplotlib Engine - Real Data)</a:t>
            </a:r>
          </a:p>
        </p:txBody>
      </p:sp>
      <p:pic>
        <p:nvPicPr>
          <p:cNvPr id="10" name="Picture 9" descr="revenue-chart-1789917937-7ac533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39312"/>
            <a:ext cx="4846320" cy="2468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3200400"/>
            <a:ext cx="5212080" cy="3063240"/>
          </a:xfrm>
          <a:prstGeom prst="roundRect">
            <a:avLst/>
          </a:prstGeom>
          <a:solidFill>
            <a:srgbClr val="101420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31012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Branded Social Card (Pillow Engine - 1200x627 PNG)</a:t>
            </a:r>
          </a:p>
        </p:txBody>
      </p:sp>
      <p:pic>
        <p:nvPicPr>
          <p:cNvPr id="13" name="Picture 12" descr="linkedin-post-1789917936-abe929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39312"/>
            <a:ext cx="4846320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Content Personalization Agent  |  Architecture &amp; Technical Overview  •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36576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257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AGENTIC ORCHESTRATION PIPELINE</a:t>
            </a:r>
          </a:p>
          <a:p>
            <a:pPr>
              <a:spcAft>
                <a:spcPts val="200"/>
              </a:spcAft>
              <a:defRPr sz="2100" b="1">
                <a:solidFill>
                  <a:srgbClr val="F1F5F9"/>
                </a:solidFill>
                <a:latin typeface="Segoe UI"/>
              </a:defRPr>
            </a:pPr>
            <a:r>
              <a:t>10-Step Deterministic LangGraph Pipeline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Every chat interaction traverses a verified state graph ensuring identity, safety, context, and storage integrity.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9144"/>
          </a:xfrm>
          <a:prstGeom prst="rect">
            <a:avLst/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8288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00200"/>
            <a:ext cx="1792224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6366F1"/>
                </a:solidFill>
                <a:latin typeface="Segoe UI"/>
              </a:defRPr>
            </a:pPr>
            <a:r>
              <a:t>Step 1: load_user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Trigger: Bearer JWT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Action: Validate session &amp; user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Output: user_id &amp; active tier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463040"/>
            <a:ext cx="20116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99232" y="1463040"/>
            <a:ext cx="182880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00200"/>
            <a:ext cx="1792224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F59E0B"/>
                </a:solidFill>
                <a:latin typeface="Segoe UI"/>
              </a:defRPr>
            </a:pPr>
            <a:r>
              <a:t>Step 2: router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Trigger: User message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Action: Keyword affinity matrix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Output: Target agent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463040"/>
            <a:ext cx="20116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75504" y="1463040"/>
            <a:ext cx="182880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600200"/>
            <a:ext cx="1792224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Step 3: scope_guard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Trigger: Agent key + query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Action: Cross-agent signal check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Output: Proceed or 0.0s handoff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463040"/>
            <a:ext cx="20116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51776" y="1463040"/>
            <a:ext cx="1828800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1600200"/>
            <a:ext cx="1792224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Step 4: load_global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Trigger: Verified user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Action: Fetch user preferences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Output: Base tone &amp; skill tier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463040"/>
            <a:ext cx="20116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28048" y="1463040"/>
            <a:ext cx="18288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46336" y="1600200"/>
            <a:ext cx="1792224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6366F1"/>
                </a:solidFill>
                <a:latin typeface="Segoe UI"/>
              </a:defRPr>
            </a:pPr>
            <a:r>
              <a:t>Step 5: load_domain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Trigger: Agent domain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Action: Fetch shared profile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Output: Brand, board, tech 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20116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931920"/>
            <a:ext cx="182880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069080"/>
            <a:ext cx="1792224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38BDF8"/>
                </a:solidFill>
                <a:latin typeface="Segoe UI"/>
              </a:defRPr>
            </a:pPr>
            <a:r>
              <a:t>Step 6: load_agent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Trigger: Agent slug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Action: Fetch task constraints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Output: Granular agent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7792" y="3931920"/>
            <a:ext cx="20116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99232" y="3931920"/>
            <a:ext cx="1828800" cy="3657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4069080"/>
            <a:ext cx="1792224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8B5CF6"/>
                </a:solidFill>
                <a:latin typeface="Segoe UI"/>
              </a:defRPr>
            </a:pPr>
            <a:r>
              <a:t>Step 7: retrieve_memory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Trigger: Message embedding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Action: Cosine search (&gt;0.45)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Output: Scoped vector memories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4064" y="3931920"/>
            <a:ext cx="20116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75504" y="3931920"/>
            <a:ext cx="1828800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3792" y="4069080"/>
            <a:ext cx="1792224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Step 8: build_context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Trigger: 3 profiles + memory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Action: Prompt assembly engine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Output: Complete compiled prompt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0336" y="3931920"/>
            <a:ext cx="20116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51776" y="3931920"/>
            <a:ext cx="182880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0064" y="4069080"/>
            <a:ext cx="1792224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F59E0B"/>
                </a:solidFill>
                <a:latin typeface="Segoe UI"/>
              </a:defRPr>
            </a:pPr>
            <a:r>
              <a:t>Step 9: generate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Trigger: Compiled prompt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Action: LLM SSE stream or render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Output: Token stream or media PNG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36608" y="3931920"/>
            <a:ext cx="2011680" cy="219456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28048" y="3931920"/>
            <a:ext cx="18288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46336" y="4069080"/>
            <a:ext cx="1792224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6366F1"/>
                </a:solidFill>
                <a:latin typeface="Segoe UI"/>
              </a:defRPr>
            </a:pPr>
            <a:r>
              <a:t>Step 10: store_message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Trigger: Completed reply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Action: Persist message &amp; candidate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850" b="0">
                <a:solidFill>
                  <a:srgbClr val="CBD5E1"/>
                </a:solidFill>
                <a:latin typeface="Segoe UI"/>
              </a:defRPr>
            </a:pPr>
            <a:r>
              <a:t>Output: Updated DB &amp; memory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Content Personalization Agent  |  Architecture &amp; Technical Overview  •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36576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257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INFRASTRUCTURE &amp; SECURITY GOVERNANCE</a:t>
            </a:r>
          </a:p>
          <a:p>
            <a:pPr>
              <a:spcAft>
                <a:spcPts val="200"/>
              </a:spcAft>
              <a:defRPr sz="2100" b="1">
                <a:solidFill>
                  <a:srgbClr val="F1F5F9"/>
                </a:solidFill>
                <a:latin typeface="Segoe UI"/>
              </a:defRPr>
            </a:pPr>
            <a:r>
              <a:t>Enterprise Security &amp; Production Tech Stack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Hardened full-stack engineering with zero-vulnerability frontend and portable multi-database architecture.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9144"/>
          </a:xfrm>
          <a:prstGeom prst="rect">
            <a:avLst/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502920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Production Technology Stack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Frontend Architecture: </a:t>
            </a:r>
            <a:r>
              <a:rPr sz="950" b="0">
                <a:solidFill>
                  <a:srgbClr val="CBD5E1"/>
                </a:solidFill>
                <a:latin typeface="Segoe UI"/>
              </a:rPr>
              <a:t>React 18, Vite 8, Tailwind CSS, Lucide Icons, react-markdown, Axios.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Backend Architecture: </a:t>
            </a:r>
            <a:r>
              <a:rPr sz="950" b="0">
                <a:solidFill>
                  <a:srgbClr val="CBD5E1"/>
                </a:solidFill>
                <a:latin typeface="Segoe UI"/>
              </a:rPr>
              <a:t>Python 3.12+, FastAPI, Pydantic v2, SQLAlchemy 2, Alembic migrations.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Agent Orchestration: </a:t>
            </a:r>
            <a:r>
              <a:rPr sz="950" b="0">
                <a:solidFill>
                  <a:srgbClr val="CBD5E1"/>
                </a:solidFill>
                <a:latin typeface="Segoe UI"/>
              </a:rPr>
              <a:t>LangGraph StateGraph with Server-Sent Events (SSE) streaming.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Dual Database Dialects: </a:t>
            </a:r>
            <a:r>
              <a:rPr sz="950" b="0">
                <a:solidFill>
                  <a:srgbClr val="CBD5E1"/>
                </a:solidFill>
                <a:latin typeface="Segoe UI"/>
              </a:rPr>
              <a:t>PostgreSQL 16 + pgvector (production) &amp; SQLite portable vector store (offline).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Pluggable AI Providers: </a:t>
            </a:r>
            <a:r>
              <a:rPr sz="950" b="0">
                <a:solidFill>
                  <a:srgbClr val="CBD5E1"/>
                </a:solidFill>
                <a:latin typeface="Segoe UI"/>
              </a:rPr>
              <a:t>Ollama (llama3.2:3b local), OpenAI-compatible APIs, AWS Bedrock, Mock mode.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Media Generation Engine: </a:t>
            </a:r>
            <a:r>
              <a:rPr sz="950" b="0">
                <a:solidFill>
                  <a:srgbClr val="CBD5E1"/>
                </a:solidFill>
                <a:latin typeface="Segoe UI"/>
              </a:rPr>
              <a:t>Pillow (PIL) local cards + Matplotlib real data charts + gpt-image-1.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463040"/>
            <a:ext cx="5029200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Security &amp; Isolation Hardening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Authentication &amp; Passwords: </a:t>
            </a:r>
            <a:r>
              <a:rPr sz="950" b="0">
                <a:solidFill>
                  <a:srgbClr val="CBD5E1"/>
                </a:solidFill>
                <a:latin typeface="Segoe UI"/>
              </a:rPr>
              <a:t>bcrypt password hashing with salted rounds. PyJWT tokens with strict expirations.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Multi-Tenant Isolation: </a:t>
            </a:r>
            <a:r>
              <a:rPr sz="950" b="0">
                <a:solidFill>
                  <a:srgbClr val="CBD5E1"/>
                </a:solidFill>
                <a:latin typeface="Segoe UI"/>
              </a:rPr>
              <a:t>Every query is strictly filtered by authenticated user_id; zero cross-tenant vector leakage.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Schema Validation: </a:t>
            </a:r>
            <a:r>
              <a:rPr sz="950" b="0">
                <a:solidFill>
                  <a:srgbClr val="CBD5E1"/>
                </a:solidFill>
                <a:latin typeface="Segoe UI"/>
              </a:rPr>
              <a:t>Pydantic v2 validates all inputs; profile updates strictly whitelisted against specs.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SQL Injection Immunity: </a:t>
            </a:r>
            <a:r>
              <a:rPr sz="950" b="0">
                <a:solidFill>
                  <a:srgbClr val="CBD5E1"/>
                </a:solidFill>
                <a:latin typeface="Segoe UI"/>
              </a:rPr>
              <a:t>SQLAlchemy 2 ORM parameterization on all database operations.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Zero NPM Vulnerabilities: </a:t>
            </a:r>
            <a:r>
              <a:rPr sz="950" b="0">
                <a:solidFill>
                  <a:srgbClr val="CBD5E1"/>
                </a:solidFill>
                <a:latin typeface="Segoe UI"/>
              </a:rPr>
              <a:t>0 known vulnerabilities across 26 production frontend artifacts.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Content Personalization Agent  |  Architecture &amp; Technical Overview  •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36576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257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TESTING &amp; RIGOROUS BENCHMARKS</a:t>
            </a:r>
          </a:p>
          <a:p>
            <a:pPr>
              <a:spcAft>
                <a:spcPts val="200"/>
              </a:spcAft>
              <a:defRPr sz="2100" b="1">
                <a:solidFill>
                  <a:srgbClr val="F1F5F9"/>
                </a:solidFill>
                <a:latin typeface="Segoe UI"/>
              </a:defRPr>
            </a:pPr>
            <a:r>
              <a:t>Empirical Verification &amp; Test Results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Benchmarked and verified on an Intel i5-10210U laptop (4 cores, 0 GPU) under 100% offline conditions.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9144"/>
          </a:xfrm>
          <a:prstGeom prst="rect">
            <a:avLst/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210312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2286000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9456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0B981"/>
                </a:solidFill>
                <a:latin typeface="Segoe UI"/>
              </a:defRPr>
            </a:pPr>
            <a:r>
              <a:t>163 / 163</a:t>
            </a:r>
          </a:p>
          <a:p>
            <a:pPr>
              <a:spcAft>
                <a:spcPts val="200"/>
              </a:spcAft>
              <a:defRPr sz="1100" b="1">
                <a:solidFill>
                  <a:srgbClr val="F1F5F9"/>
                </a:solidFill>
                <a:latin typeface="Segoe UI"/>
              </a:defRPr>
            </a:pPr>
            <a:r>
              <a:t>Pipeline Assertions Passed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100% pass rate across all end-to-end integration tests.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68880" cy="210312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463040"/>
            <a:ext cx="228600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645920"/>
            <a:ext cx="219456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38BDF8"/>
                </a:solidFill>
                <a:latin typeface="Segoe UI"/>
              </a:defRPr>
            </a:pPr>
            <a:r>
              <a:t>34 / 34</a:t>
            </a:r>
          </a:p>
          <a:p>
            <a:pPr>
              <a:spcAft>
                <a:spcPts val="200"/>
              </a:spcAft>
              <a:defRPr sz="1100" b="1">
                <a:solidFill>
                  <a:srgbClr val="F1F5F9"/>
                </a:solidFill>
                <a:latin typeface="Segoe UI"/>
              </a:defRPr>
            </a:pPr>
            <a:r>
              <a:t>Agents Output Verified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30 text, 3 image, 1 chart verified against declared schemas.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468880" cy="210312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463040"/>
            <a:ext cx="22860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219456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6366F1"/>
                </a:solidFill>
                <a:latin typeface="Segoe UI"/>
              </a:defRPr>
            </a:pPr>
            <a:r>
              <a:t>21 / 21</a:t>
            </a:r>
          </a:p>
          <a:p>
            <a:pPr>
              <a:spcAft>
                <a:spcPts val="200"/>
              </a:spcAft>
              <a:defRPr sz="1100" b="1">
                <a:solidFill>
                  <a:srgbClr val="F1F5F9"/>
                </a:solidFill>
                <a:latin typeface="Segoe UI"/>
              </a:defRPr>
            </a:pPr>
            <a:r>
              <a:t>Router Scenarios Correct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100% routing accuracy without requiring LLM inference calls.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468880" cy="210312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0" y="1463040"/>
            <a:ext cx="228600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645920"/>
            <a:ext cx="219456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59E0B"/>
                </a:solidFill>
                <a:latin typeface="Segoe UI"/>
              </a:defRPr>
            </a:pPr>
            <a:r>
              <a:t>0.00s</a:t>
            </a:r>
          </a:p>
          <a:p>
            <a:pPr>
              <a:spcAft>
                <a:spcPts val="200"/>
              </a:spcAft>
              <a:defRPr sz="1100" b="1">
                <a:solidFill>
                  <a:srgbClr val="F1F5F9"/>
                </a:solidFill>
                <a:latin typeface="Segoe UI"/>
              </a:defRPr>
            </a:pPr>
            <a:r>
              <a:t>Scope Handoff Speed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Instant out-of-scope redirection with zero model cost.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10728655" cy="2331720"/>
          </a:xfrm>
          <a:prstGeom prst="roundRect">
            <a:avLst/>
          </a:prstGeom>
          <a:solidFill>
            <a:srgbClr val="101420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41648"/>
            <a:ext cx="10149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1F5F9"/>
                </a:solidFill>
                <a:latin typeface="Segoe UI"/>
              </a:defRPr>
            </a:pPr>
            <a:r>
              <a:t>Empirical Benchmark Summary (Intel i5 CPU, Local Ollama llama3.2:3b)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Scope Guard Redirect Latency: </a:t>
            </a:r>
            <a:r>
              <a:rPr sz="950" b="0">
                <a:solidFill>
                  <a:srgbClr val="CBD5E1"/>
                </a:solidFill>
                <a:latin typeface="Segoe UI"/>
              </a:rPr>
              <a:t>0.00 seconds — Instant handoff when request violates agent scope.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Branded PNG Card Generation: </a:t>
            </a:r>
            <a:r>
              <a:rPr sz="950" b="0">
                <a:solidFill>
                  <a:srgbClr val="CBD5E1"/>
                </a:solidFill>
                <a:latin typeface="Segoe UI"/>
              </a:rPr>
              <a:t>43.9 seconds — Full layout synthesis, brand color injection &amp; 1200x627 rendering on CPU.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Data Chart Generation: </a:t>
            </a:r>
            <a:r>
              <a:rPr sz="950" b="0">
                <a:solidFill>
                  <a:srgbClr val="CBD5E1"/>
                </a:solidFill>
                <a:latin typeface="Segoe UI"/>
              </a:rPr>
              <a:t>53.5 seconds — End-to-end numerical extraction, validation, and Matplotlib plotting on CPU.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Database Migration Resilience: </a:t>
            </a:r>
            <a:r>
              <a:rPr sz="950" b="0">
                <a:solidFill>
                  <a:srgbClr val="CBD5E1"/>
                </a:solidFill>
                <a:latin typeface="Segoe UI"/>
              </a:rPr>
              <a:t>45/45 assertions passed (Alembic v1 -&gt; v2 -&gt; v1 rollback test with zero data loss).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Content Personalization Agent  |  Architecture &amp; Technical Overview  •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36576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102257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Segoe UI"/>
              </a:defRPr>
            </a:pPr>
            <a:r>
              <a:t>EXECUTIVE SUMMARY &amp; CONCLUSION</a:t>
            </a:r>
          </a:p>
          <a:p>
            <a:pPr>
              <a:spcAft>
                <a:spcPts val="200"/>
              </a:spcAft>
              <a:defRPr sz="2100" b="1">
                <a:solidFill>
                  <a:srgbClr val="F1F5F9"/>
                </a:solidFill>
                <a:latin typeface="Segoe UI"/>
              </a:defRPr>
            </a:pPr>
            <a:r>
              <a:t>Summary of Achievements &amp; Next Milestones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 complete, production-grade multi-agent AI system ready for live demonstration and organizational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9144"/>
          </a:xfrm>
          <a:prstGeom prst="rect">
            <a:avLst/>
          </a:prstGeom>
          <a:solidFill>
            <a:srgbClr val="1E263A"/>
          </a:solidFill>
          <a:ln>
            <a:solidFill>
              <a:srgbClr val="1E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154680"/>
          </a:xfrm>
          <a:prstGeom prst="roundRect">
            <a:avLst/>
          </a:prstGeom>
          <a:solidFill>
            <a:srgbClr val="161C2C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50292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Key Project Innovations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34 Specialized Agents: </a:t>
            </a:r>
            <a:r>
              <a:rPr sz="950" b="0">
                <a:solidFill>
                  <a:srgbClr val="CBD5E1"/>
                </a:solidFill>
                <a:latin typeface="Segoe UI"/>
              </a:rPr>
              <a:t>Eliminates prompt drift by replacing monolithic chatbots with single-purpose experts.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3-Tier Layered Profiles: </a:t>
            </a:r>
            <a:r>
              <a:rPr sz="950" b="0">
                <a:solidFill>
                  <a:srgbClr val="CBD5E1"/>
                </a:solidFill>
                <a:latin typeface="Segoe UI"/>
              </a:rPr>
              <a:t>Global, domain, and agent profiles maximize context relevance without repeated prompts.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Durable Semantic Memory: </a:t>
            </a:r>
            <a:r>
              <a:rPr sz="950" b="0">
                <a:solidFill>
                  <a:srgbClr val="CBD5E1"/>
                </a:solidFill>
                <a:latin typeface="Segoe UI"/>
              </a:rPr>
              <a:t>Vector embeddings isolate memories while feedback promotion retains user preferences.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Deterministic Safety Guardrails: </a:t>
            </a:r>
            <a:r>
              <a:rPr sz="950" b="0">
                <a:solidFill>
                  <a:srgbClr val="CBD5E1"/>
                </a:solidFill>
                <a:latin typeface="Segoe UI"/>
              </a:rPr>
              <a:t>Instant 0.00s handoffs protect agent lane discipline with zero hallucination.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Zero-Cloud Local Resilience: </a:t>
            </a:r>
            <a:r>
              <a:rPr sz="950" b="0">
                <a:solidFill>
                  <a:srgbClr val="CBD5E1"/>
                </a:solidFill>
                <a:latin typeface="Segoe UI"/>
              </a:rPr>
              <a:t>Runs 100% offline with Ollama, SQLite, and CPU media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3154680"/>
          </a:xfrm>
          <a:prstGeom prst="roundRect">
            <a:avLst/>
          </a:prstGeom>
          <a:solidFill>
            <a:srgbClr val="101420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463040"/>
            <a:ext cx="5029200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7548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Live Interactive Demonstration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Web Application: </a:t>
            </a:r>
            <a:r>
              <a:rPr sz="950" b="0">
                <a:solidFill>
                  <a:srgbClr val="CBD5E1"/>
                </a:solidFill>
                <a:latin typeface="Segoe UI"/>
              </a:rPr>
              <a:t>http://localhost:5173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Backend REST API: </a:t>
            </a:r>
            <a:r>
              <a:rPr sz="950" b="0">
                <a:solidFill>
                  <a:srgbClr val="CBD5E1"/>
                </a:solidFill>
                <a:latin typeface="Segoe UI"/>
              </a:rPr>
              <a:t>http://localhost:8000 (Swagger docs at /docs)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• Local Ollama Daemon: </a:t>
            </a:r>
            <a:r>
              <a:rPr sz="950" b="0">
                <a:solidFill>
                  <a:srgbClr val="CBD5E1"/>
                </a:solidFill>
                <a:latin typeface="Segoe UI"/>
              </a:rPr>
              <a:t>http://localhost:11434 (llama3.2:3b active)</a:t>
            </a:r>
          </a:p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Pre-Seeded Demo Account: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900" b="0">
                <a:solidFill>
                  <a:srgbClr val="FFFFFF"/>
                </a:solidFill>
                <a:latin typeface="Segoe UI"/>
              </a:defRPr>
            </a:pPr>
            <a:r>
              <a:t>Email: demo@example.com  •  Password: DemoPass123</a:t>
            </a:r>
          </a:p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Thank You! Questions &amp; Open Discussion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00600"/>
            <a:ext cx="10728655" cy="1417320"/>
          </a:xfrm>
          <a:prstGeom prst="roundRect">
            <a:avLst/>
          </a:prstGeom>
          <a:solidFill>
            <a:srgbClr val="101420"/>
          </a:solidFill>
          <a:ln w="127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19472"/>
            <a:ext cx="10241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1F5F9"/>
                </a:solidFill>
                <a:latin typeface="Segoe UI"/>
              </a:defRPr>
            </a:pPr>
            <a:r>
              <a:t>Strategic Roadmap &amp; System Extensions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Collaborative Multi-Agent Workflows: </a:t>
            </a:r>
            <a:r>
              <a:rPr sz="950" b="0">
                <a:solidFill>
                  <a:srgbClr val="CBD5E1"/>
                </a:solidFill>
                <a:latin typeface="Segoe UI"/>
              </a:rPr>
              <a:t>Automate handshakes between agents (e.g. EDA Planner passing datasets directly to Chart Builder).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Local Voice &amp; Audio Interface: </a:t>
            </a:r>
            <a:r>
              <a:rPr sz="950" b="0">
                <a:solidFill>
                  <a:srgbClr val="CBD5E1"/>
                </a:solidFill>
                <a:latin typeface="Segoe UI"/>
              </a:rPr>
              <a:t>Integrate Whisper local speech-to-text with streaming TTS for natural voice pair programming and tutoring.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• Direct Export Connectors: </a:t>
            </a:r>
            <a:r>
              <a:rPr sz="950" b="0">
                <a:solidFill>
                  <a:srgbClr val="CBD5E1"/>
                </a:solidFill>
                <a:latin typeface="Segoe UI"/>
              </a:rPr>
              <a:t>One-click publishing to LinkedIn, Notion databases, Google Docs, and branded PDF report compilation.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Content Personalization Agent  |  Architecture &amp; Technical Overview  •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